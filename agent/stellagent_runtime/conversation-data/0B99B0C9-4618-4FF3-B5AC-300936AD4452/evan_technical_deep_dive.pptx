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Agent Evan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498DB"/>
                </a:solidFill>
              </a:defRPr>
            </a:pPr>
            <a:r>
              <a:t>Production Architecture &amp; Implementation Details</a:t>
            </a:r>
          </a:p>
          <a:p>
            <a:pPr algn="ctr">
              <a:defRPr sz="2200">
                <a:solidFill>
                  <a:srgbClr val="3498DB"/>
                </a:solidFill>
              </a:defRPr>
            </a:pPr>
            <a:r>
              <a:t>Based on Actual Codebase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Created by Jess Solutions Incorporated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Multi-Platform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Three-Tier Distributed System</a:t>
            </a:r>
          </a:p>
          <a:p>
            <a:br/>
            <a:pPr>
              <a:defRPr sz="1800" b="1"/>
            </a:pPr>
            <a:r>
              <a:t>Python Client Layer</a:t>
            </a:r>
          </a:p>
          <a:p>
            <a:pPr lvl="1">
              <a:defRPr sz="1400"/>
            </a:pPr>
            <a:r>
              <a:t>• AsyncIO-based architecture with WebSocket client</a:t>
            </a:r>
          </a:p>
          <a:p>
            <a:pPr lvl="1">
              <a:defRPr sz="1400"/>
            </a:pPr>
            <a:r>
              <a:t>• Container orchestration via Docker SDK</a:t>
            </a:r>
          </a:p>
          <a:p>
            <a:br/>
            <a:pPr>
              <a:defRPr sz="1800" b="1"/>
            </a:pPr>
            <a:r>
              <a:t>Cloudflare Workers Server</a:t>
            </a:r>
          </a:p>
          <a:p>
            <a:pPr lvl="1">
              <a:defRPr sz="1400"/>
            </a:pPr>
            <a:r>
              <a:t>• Edge computing with Durable Objects for state</a:t>
            </a:r>
          </a:p>
          <a:p>
            <a:pPr lvl="1">
              <a:defRPr sz="1400"/>
            </a:pPr>
            <a:r>
              <a:t>• Real-time WebSocket broadcasting</a:t>
            </a:r>
          </a:p>
          <a:p>
            <a:br/>
            <a:pPr>
              <a:defRPr sz="1800" b="1"/>
            </a:pPr>
            <a:r>
              <a:t>iOS SwiftUI Application</a:t>
            </a:r>
          </a:p>
          <a:p>
            <a:pPr lvl="1">
              <a:defRPr sz="1400"/>
            </a:pPr>
            <a:r>
              <a:t>• Native speech-to-text integration</a:t>
            </a:r>
          </a:p>
          <a:p>
            <a:pPr lvl="1">
              <a:defRPr sz="1400"/>
            </a:pPr>
            <a:r>
              <a:t>• Persistent conversation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Revolutionary Container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Per-Conversation Isolation</a:t>
            </a:r>
          </a:p>
          <a:p>
            <a:br/>
            <a:pPr>
              <a:defRPr sz="1600"/>
            </a:pPr>
            <a:r>
              <a:t>Each conversation gets dedicated Ubuntu 24.04 container:</a:t>
            </a:r>
          </a:p>
          <a:p>
            <a:pPr lvl="1">
              <a:defRPr sz="1400"/>
            </a:pPr>
            <a:r>
              <a:t>• 4GB RAM limit, 4 CPU cores</a:t>
            </a:r>
          </a:p>
          <a:p>
            <a:pPr lvl="1">
              <a:defRPr sz="1400"/>
            </a:pPr>
            <a:r>
              <a:t>• Persistent /mnt working directory</a:t>
            </a:r>
          </a:p>
          <a:p>
            <a:pPr lvl="1">
              <a:defRPr sz="1400"/>
            </a:pPr>
            <a:r>
              <a:t>• Pre-installed development stack:</a:t>
            </a:r>
          </a:p>
          <a:p>
            <a:pPr lvl="2">
              <a:defRPr sz="1300"/>
            </a:pPr>
            <a:r>
              <a:t>  - Python 3.12 with 50+ data science packages</a:t>
            </a:r>
          </a:p>
          <a:p>
            <a:pPr lvl="2">
              <a:defRPr sz="1300"/>
            </a:pPr>
            <a:r>
              <a:t>  - Node.js 18.x with document tools</a:t>
            </a:r>
          </a:p>
          <a:p>
            <a:pPr lvl="2">
              <a:defRPr sz="1300"/>
            </a:pPr>
            <a:r>
              <a:t>  - PowerPoint creation (pptxgenjs, python-pptx)</a:t>
            </a:r>
          </a:p>
          <a:p>
            <a:pPr lvl="2">
              <a:defRPr sz="1300"/>
            </a:pPr>
            <a:r>
              <a:t>  - Document processing (Pandoc, LibreOffice)</a:t>
            </a:r>
          </a:p>
          <a:p>
            <a:br/>
            <a:pPr>
              <a:defRPr sz="1600" b="1"/>
            </a:pPr>
            <a:r>
              <a:t>Lifecycle Management:</a:t>
            </a:r>
          </a:p>
          <a:p>
            <a:pPr lvl="1">
              <a:defRPr sz="1400"/>
            </a:pPr>
            <a:r>
              <a:t>• Automatic cleanup after inactivity</a:t>
            </a:r>
          </a:p>
          <a:p>
            <a:pPr lvl="1">
              <a:defRPr sz="1400"/>
            </a:pPr>
            <a:r>
              <a:t>• Container reset with file preservation 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Sophisticated Claude 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Production-Ready Implementation</a:t>
            </a:r>
          </a:p>
          <a:p>
            <a:br/>
            <a:pPr>
              <a:defRPr sz="1800" b="1"/>
            </a:pPr>
            <a:r>
              <a:t>Infinite Retry Logic</a:t>
            </a:r>
          </a:p>
          <a:p>
            <a:pPr lvl="1">
              <a:defRPr sz="1400"/>
            </a:pPr>
            <a:r>
              <a:t>• Exponential backoff (1s → 2s → 4s → 8s)</a:t>
            </a:r>
          </a:p>
          <a:p>
            <a:pPr lvl="1">
              <a:defRPr sz="1400"/>
            </a:pPr>
            <a:r>
              <a:t>• Automatic model fallback:</a:t>
            </a:r>
          </a:p>
          <a:p>
            <a:pPr lvl="2">
              <a:defRPr sz="1300"/>
            </a:pPr>
            <a:r>
              <a:t>  claude-opus-4 → claude-3-haiku on failure</a:t>
            </a:r>
          </a:p>
          <a:p>
            <a:br/>
            <a:pPr>
              <a:defRPr sz="1800" b="1"/>
            </a:pPr>
            <a:r>
              <a:t>Real-Time Streaming</a:t>
            </a:r>
          </a:p>
          <a:p>
            <a:pPr lvl="1">
              <a:defRPr sz="1400"/>
            </a:pPr>
            <a:r>
              <a:t>• SSE (Server-Sent Events) for responses</a:t>
            </a:r>
          </a:p>
          <a:p>
            <a:pPr lvl="1">
              <a:defRPr sz="1400"/>
            </a:pPr>
            <a:r>
              <a:t>• Early tool call detection and broadcasting</a:t>
            </a:r>
          </a:p>
          <a:p>
            <a:pPr lvl="1">
              <a:defRPr sz="1400"/>
            </a:pPr>
            <a:r>
              <a:t>• Multi-tool execution in single response</a:t>
            </a:r>
          </a:p>
          <a:p>
            <a:br/>
            <a:pPr>
              <a:defRPr sz="1800" b="1"/>
            </a:pPr>
            <a:r>
              <a:t>Advanced Features</a:t>
            </a:r>
          </a:p>
          <a:p>
            <a:pPr lvl="1">
              <a:defRPr sz="1400"/>
            </a:pPr>
            <a:r>
              <a:t>• System prompt injection with user memory</a:t>
            </a:r>
          </a:p>
          <a:p>
            <a:pPr lvl="1">
              <a:defRPr sz="1400"/>
            </a:pPr>
            <a:r>
              <a:t>• Token usage tracking and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Plugin-Based Tool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BaseToolSetProvider Architecture</a:t>
            </a:r>
          </a:p>
          <a:p>
            <a:br/>
            <a:pPr>
              <a:defRPr sz="1600" b="1"/>
            </a:pPr>
            <a:r>
              <a:t>Core Tool Categories:</a:t>
            </a:r>
          </a:p>
          <a:p>
            <a:pPr lvl="1">
              <a:defRPr sz="1400"/>
            </a:pPr>
            <a:r>
              <a:t>• Container Tools: ZSH, file editing, status management</a:t>
            </a:r>
          </a:p>
          <a:p>
            <a:pPr lvl="1">
              <a:defRPr sz="1400"/>
            </a:pPr>
            <a:r>
              <a:t>• Host Tools: Calendar, email, codebase analysis</a:t>
            </a:r>
          </a:p>
          <a:p>
            <a:pPr lvl="1">
              <a:defRPr sz="1400"/>
            </a:pPr>
            <a:r>
              <a:t>• Web Tools: Search, fetch, content analysis</a:t>
            </a:r>
          </a:p>
          <a:p>
            <a:pPr lvl="1">
              <a:defRPr sz="1400"/>
            </a:pPr>
            <a:r>
              <a:t>• Memory Tools: User fact storage</a:t>
            </a:r>
          </a:p>
          <a:p>
            <a:br/>
            <a:pPr>
              <a:defRPr sz="1600" b="1"/>
            </a:pPr>
            <a:r>
              <a:t>State Management:</a:t>
            </a:r>
          </a:p>
          <a:p>
            <a:pPr lvl="1">
              <a:defRPr sz="1400"/>
            </a:pPr>
            <a:r>
              <a:t>• Global state + per-conversation state</a:t>
            </a:r>
          </a:p>
          <a:p>
            <a:pPr lvl="1">
              <a:defRPr sz="1400"/>
            </a:pPr>
            <a:r>
              <a:t>• Atomic updates with validation</a:t>
            </a:r>
          </a:p>
          <a:p>
            <a:pPr lvl="1">
              <a:defRPr sz="1400"/>
            </a:pPr>
            <a:r>
              <a:t>• Pickle serialization for persistence</a:t>
            </a:r>
          </a:p>
          <a:p>
            <a:br/>
            <a:pPr>
              <a:defRPr sz="1600" b="1"/>
            </a:pPr>
            <a:r>
              <a:t>Extensibility:</a:t>
            </a:r>
          </a:p>
          <a:p>
            <a:pPr lvl="1">
              <a:defRPr sz="1400"/>
            </a:pPr>
            <a:r>
              <a:t>• Abstract base class for new providers</a:t>
            </a:r>
          </a:p>
          <a:p>
            <a:pPr lvl="1">
              <a:defRPr sz="1400"/>
            </a:pPr>
            <a:r>
              <a:t>• JSON schema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Real-Time Communication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WebSocket Broadcasting Architecture</a:t>
            </a:r>
          </a:p>
          <a:p>
            <a:br/>
            <a:pPr>
              <a:defRPr sz="1600" b="1"/>
            </a:pPr>
            <a:r>
              <a:t>Live Tool Execution Visibility:</a:t>
            </a:r>
          </a:p>
          <a:p>
            <a:pPr lvl="1">
              <a:defRPr sz="1400"/>
            </a:pPr>
            <a:r>
              <a:t>• Tool calls broadcast as they start</a:t>
            </a:r>
          </a:p>
          <a:p>
            <a:pPr lvl="1">
              <a:defRPr sz="1400"/>
            </a:pPr>
            <a:r>
              <a:t>• Human-readable tool names</a:t>
            </a:r>
          </a:p>
          <a:p>
            <a:pPr lvl="1">
              <a:defRPr sz="1400"/>
            </a:pPr>
            <a:r>
              <a:t>• Status updates (running, completed, failed)</a:t>
            </a:r>
          </a:p>
          <a:p>
            <a:br/>
            <a:pPr>
              <a:defRPr sz="1600" b="1"/>
            </a:pPr>
            <a:r>
              <a:t>Cloudflare Durable Objects:</a:t>
            </a:r>
          </a:p>
          <a:p>
            <a:pPr lvl="1">
              <a:defRPr sz="1400"/>
            </a:pPr>
            <a:r>
              <a:t>• Persistent WebSocket connections</a:t>
            </a:r>
          </a:p>
          <a:p>
            <a:pPr lvl="1">
              <a:defRPr sz="1400"/>
            </a:pPr>
            <a:r>
              <a:t>• Conversation state management</a:t>
            </a:r>
          </a:p>
          <a:p>
            <a:pPr lvl="1">
              <a:defRPr sz="1400"/>
            </a:pPr>
            <a:r>
              <a:t>• Multi-client synchronization</a:t>
            </a:r>
          </a:p>
          <a:p>
            <a:br/>
            <a:pPr>
              <a:defRPr sz="1600" b="1"/>
            </a:pPr>
            <a:r>
              <a:t>Connection Resilience:</a:t>
            </a:r>
          </a:p>
          <a:p>
            <a:pPr lvl="1">
              <a:defRPr sz="1400"/>
            </a:pPr>
            <a:r>
              <a:t>• Automatic reconnection with backoff</a:t>
            </a:r>
          </a:p>
          <a:p>
            <a:pPr lvl="1">
              <a:defRPr sz="1400"/>
            </a:pPr>
            <a:r>
              <a:t>• Message queue during disconnection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Cross-Conversation AI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Persistent User Context System</a:t>
            </a:r>
          </a:p>
          <a:p>
            <a:br/>
            <a:pPr>
              <a:defRPr sz="1600" b="1"/>
            </a:pPr>
            <a:r>
              <a:t>Implementation:</a:t>
            </a:r>
          </a:p>
          <a:p>
            <a:pPr lvl="1">
              <a:defRPr sz="1400"/>
            </a:pPr>
            <a:r>
              <a:t>• File-based storage with atomic writes</a:t>
            </a:r>
          </a:p>
          <a:p>
            <a:pPr lvl="1">
              <a:defRPr sz="1400"/>
            </a:pPr>
            <a:r>
              <a:t>• Facts injected into system prompts</a:t>
            </a:r>
          </a:p>
          <a:p>
            <a:pPr lvl="1">
              <a:defRPr sz="1400"/>
            </a:pPr>
            <a:r>
              <a:t>• Per-user isolation</a:t>
            </a:r>
          </a:p>
          <a:p>
            <a:br/>
            <a:pPr>
              <a:defRPr sz="1600" b="1"/>
            </a:pPr>
            <a:r>
              <a:t>Memory Types:</a:t>
            </a:r>
          </a:p>
          <a:p>
            <a:pPr lvl="1">
              <a:defRPr sz="1400"/>
            </a:pPr>
            <a:r>
              <a:t>• User preferences and settings</a:t>
            </a:r>
          </a:p>
          <a:p>
            <a:pPr lvl="1">
              <a:defRPr sz="1400"/>
            </a:pPr>
            <a:r>
              <a:t>• Project context and paths</a:t>
            </a:r>
          </a:p>
          <a:p>
            <a:pPr lvl="1">
              <a:defRPr sz="1400"/>
            </a:pPr>
            <a:r>
              <a:t>• Personal information (with consent)</a:t>
            </a:r>
          </a:p>
          <a:p>
            <a:br/>
            <a:pPr>
              <a:defRPr sz="1600" b="1"/>
            </a:pPr>
            <a:r>
              <a:t>Integration:</a:t>
            </a:r>
          </a:p>
          <a:p>
            <a:pPr lvl="1">
              <a:defRPr sz="1400"/>
            </a:pPr>
            <a:r>
              <a:t>• Automatic loading on conversation start</a:t>
            </a:r>
          </a:p>
          <a:p>
            <a:pPr lvl="1">
              <a:defRPr sz="1400"/>
            </a:pPr>
            <a:r>
              <a:t>• Real-time updates during conversation</a:t>
            </a:r>
          </a:p>
          <a:p>
            <a:pPr lvl="1">
              <a:defRPr sz="1400"/>
            </a:pPr>
            <a:r>
              <a:t>• Explicit user control (remember/forget)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Security &amp;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Production-Grade Security</a:t>
            </a:r>
          </a:p>
          <a:p>
            <a:br/>
            <a:pPr>
              <a:defRPr sz="1600" b="1"/>
            </a:pPr>
            <a:r>
              <a:t>Container Isolation:</a:t>
            </a:r>
          </a:p>
          <a:p>
            <a:pPr lvl="1">
              <a:defRPr sz="1400"/>
            </a:pPr>
            <a:r>
              <a:t>• Resource limits (RAM, CPU, disk)</a:t>
            </a:r>
          </a:p>
          <a:p>
            <a:pPr lvl="1">
              <a:defRPr sz="1400"/>
            </a:pPr>
            <a:r>
              <a:t>• Network isolation per container</a:t>
            </a:r>
          </a:p>
          <a:p>
            <a:pPr lvl="1">
              <a:defRPr sz="1400"/>
            </a:pPr>
            <a:r>
              <a:t>• Path traversal protection</a:t>
            </a:r>
          </a:p>
          <a:p>
            <a:br/>
            <a:pPr>
              <a:defRPr sz="1600" b="1"/>
            </a:pPr>
            <a:r>
              <a:t>Error Recovery:</a:t>
            </a:r>
          </a:p>
          <a:p>
            <a:pPr lvl="1">
              <a:defRPr sz="1400"/>
            </a:pPr>
            <a:r>
              <a:t>• Automatic model switching on failure</a:t>
            </a:r>
          </a:p>
          <a:p>
            <a:pPr lvl="1">
              <a:defRPr sz="1400"/>
            </a:pPr>
            <a:r>
              <a:t>• Container health monitoring</a:t>
            </a:r>
          </a:p>
          <a:p>
            <a:pPr lvl="1">
              <a:defRPr sz="1400"/>
            </a:pPr>
            <a:r>
              <a:t>• Graceful degradation strategies</a:t>
            </a:r>
          </a:p>
          <a:p>
            <a:br/>
            <a:pPr>
              <a:defRPr sz="1600" b="1"/>
            </a:pPr>
            <a:r>
              <a:t>Data Protection:</a:t>
            </a:r>
          </a:p>
          <a:p>
            <a:pPr lvl="1">
              <a:defRPr sz="1400"/>
            </a:pPr>
            <a:r>
              <a:t>• Conversation isolation</a:t>
            </a:r>
          </a:p>
          <a:p>
            <a:pPr lvl="1">
              <a:defRPr sz="1400"/>
            </a:pPr>
            <a:r>
              <a:t>• Secure file handling</a:t>
            </a:r>
          </a:p>
          <a:p>
            <a:pPr lvl="1">
              <a:defRPr sz="1400"/>
            </a:pPr>
            <a:r>
              <a:t>• API key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Performance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Production Performance Features</a:t>
            </a:r>
          </a:p>
          <a:p>
            <a:br/>
            <a:pPr>
              <a:defRPr sz="1600" b="1"/>
            </a:pPr>
            <a:r>
              <a:t>Caching Strategy:</a:t>
            </a:r>
          </a:p>
          <a:p>
            <a:pPr lvl="1">
              <a:defRPr sz="1400"/>
            </a:pPr>
            <a:r>
              <a:t>• Multi-level state caching</a:t>
            </a:r>
          </a:p>
          <a:p>
            <a:pPr lvl="1">
              <a:defRPr sz="1400"/>
            </a:pPr>
            <a:r>
              <a:t>• Container reuse for same conversation</a:t>
            </a:r>
          </a:p>
          <a:p>
            <a:pPr lvl="1">
              <a:defRPr sz="1400"/>
            </a:pPr>
            <a:r>
              <a:t>• Tool result caching</a:t>
            </a:r>
          </a:p>
          <a:p>
            <a:br/>
            <a:pPr>
              <a:defRPr sz="1600" b="1"/>
            </a:pPr>
            <a:r>
              <a:t>Asynchronous Processing:</a:t>
            </a:r>
          </a:p>
          <a:p>
            <a:pPr lvl="1">
              <a:defRPr sz="1400"/>
            </a:pPr>
            <a:r>
              <a:t>• AsyncIO for concurrent operations</a:t>
            </a:r>
          </a:p>
          <a:p>
            <a:pPr lvl="1">
              <a:defRPr sz="1400"/>
            </a:pPr>
            <a:r>
              <a:t>• Parallel tool execution</a:t>
            </a:r>
          </a:p>
          <a:p>
            <a:pPr lvl="1">
              <a:defRPr sz="1400"/>
            </a:pPr>
            <a:r>
              <a:t>• Non-blocking WebSocket I/O</a:t>
            </a:r>
          </a:p>
          <a:p>
            <a:br/>
            <a:pPr>
              <a:defRPr sz="1600" b="1"/>
            </a:pPr>
            <a:r>
              <a:t>Resource Management:</a:t>
            </a:r>
          </a:p>
          <a:p>
            <a:pPr lvl="1">
              <a:defRPr sz="1400"/>
            </a:pPr>
            <a:r>
              <a:t>• Automatic container cleanup</a:t>
            </a:r>
          </a:p>
          <a:p>
            <a:pPr lvl="1">
              <a:defRPr sz="1400"/>
            </a:pPr>
            <a:r>
              <a:t>• Memory-efficient streaming</a:t>
            </a:r>
          </a:p>
          <a:p>
            <a:pPr lvl="1">
              <a:defRPr sz="1400"/>
            </a:pPr>
            <a:r>
              <a:t>• Connection pooling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Complete 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Backend (Python 3.8+)</a:t>
            </a:r>
          </a:p>
          <a:p>
            <a:pPr lvl="1">
              <a:defRPr sz="1300"/>
            </a:pPr>
            <a:r>
              <a:t>• AsyncIO, aiohttp, websockets</a:t>
            </a:r>
          </a:p>
          <a:p>
            <a:pPr lvl="1">
              <a:defRPr sz="1300"/>
            </a:pPr>
            <a:r>
              <a:t>• Docker SDK, container management</a:t>
            </a:r>
          </a:p>
          <a:p>
            <a:pPr lvl="1">
              <a:defRPr sz="1300"/>
            </a:pPr>
            <a:r>
              <a:t>• 100+ packages for data science &amp; docs</a:t>
            </a:r>
          </a:p>
          <a:p>
            <a:br/>
            <a:pPr>
              <a:defRPr sz="1600" b="1">
                <a:solidFill>
                  <a:srgbClr val="3498DB"/>
                </a:solidFill>
              </a:defRPr>
            </a:pPr>
            <a:r>
              <a:t>Server (Cloudflare Workers)</a:t>
            </a:r>
          </a:p>
          <a:p>
            <a:pPr lvl="1">
              <a:defRPr sz="1300"/>
            </a:pPr>
            <a:r>
              <a:t>• Edge computing runtime</a:t>
            </a:r>
          </a:p>
          <a:p>
            <a:pPr lvl="1">
              <a:defRPr sz="1300"/>
            </a:pPr>
            <a:r>
              <a:t>• Durable Objects for state</a:t>
            </a:r>
          </a:p>
          <a:p>
            <a:pPr lvl="1">
              <a:defRPr sz="1300"/>
            </a:pPr>
            <a:r>
              <a:t>• WebSocket API gateway</a:t>
            </a:r>
          </a:p>
          <a:p>
            <a:br/>
            <a:pPr>
              <a:defRPr sz="1600" b="1">
                <a:solidFill>
                  <a:srgbClr val="3498DB"/>
                </a:solidFill>
              </a:defRPr>
            </a:pPr>
            <a:r>
              <a:t>Mobile (iOS SwiftUI)</a:t>
            </a:r>
          </a:p>
          <a:p>
            <a:pPr lvl="1">
              <a:defRPr sz="1300"/>
            </a:pPr>
            <a:r>
              <a:t>• Native UI components</a:t>
            </a:r>
          </a:p>
          <a:p>
            <a:pPr lvl="1">
              <a:defRPr sz="1300"/>
            </a:pPr>
            <a:r>
              <a:t>• Speech recognition</a:t>
            </a:r>
          </a:p>
          <a:p>
            <a:pPr lvl="1">
              <a:defRPr sz="1300"/>
            </a:pPr>
            <a:r>
              <a:t>• Core Data persistence</a:t>
            </a:r>
          </a:p>
          <a:p>
            <a:br/>
            <a:pPr>
              <a:defRPr sz="1600" b="1">
                <a:solidFill>
                  <a:srgbClr val="3498DB"/>
                </a:solidFill>
              </a:defRPr>
            </a:pPr>
            <a:r>
              <a:t>Integrations</a:t>
            </a:r>
          </a:p>
          <a:p>
            <a:pPr lvl="1">
              <a:defRPr sz="1300"/>
            </a:pPr>
            <a:r>
              <a:t>• Anthropic Claude API</a:t>
            </a:r>
          </a:p>
          <a:p>
            <a:pPr lvl="1">
              <a:defRPr sz="1300"/>
            </a:pPr>
            <a:r>
              <a:t>• Apple Shortcuts (Calendar/Mail)</a:t>
            </a:r>
          </a:p>
          <a:p>
            <a:pPr lvl="1">
              <a:defRPr sz="1300"/>
            </a:pPr>
            <a:r>
              <a:t>• Web APIs for search &amp; fetch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Unique Innovation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What Makes Agent Evan Special</a:t>
            </a:r>
          </a:p>
          <a:p>
            <a:br/>
            <a:pPr>
              <a:defRPr sz="1600" b="1"/>
            </a:pPr>
            <a:r>
              <a:t>✨ Container-Per-Conversation Model</a:t>
            </a:r>
          </a:p>
          <a:p>
            <a:pPr lvl="1">
              <a:defRPr sz="1400"/>
            </a:pPr>
            <a:r>
              <a:t>Industry-first isolated development environment</a:t>
            </a:r>
          </a:p>
          <a:p>
            <a:br/>
            <a:pPr>
              <a:defRPr sz="1600" b="1"/>
            </a:pPr>
            <a:r>
              <a:t>✨ Real-Time Tool Visibility</a:t>
            </a:r>
          </a:p>
          <a:p>
            <a:pPr lvl="1">
              <a:defRPr sz="1400"/>
            </a:pPr>
            <a:r>
              <a:t>Users see exactly what's happening as it happens</a:t>
            </a:r>
          </a:p>
          <a:p>
            <a:br/>
            <a:pPr>
              <a:defRPr sz="1600" b="1"/>
            </a:pPr>
            <a:r>
              <a:t>✨ Infinite Retry with Fallback</a:t>
            </a:r>
          </a:p>
          <a:p>
            <a:pPr lvl="1">
              <a:defRPr sz="1400"/>
            </a:pPr>
            <a:r>
              <a:t>Never fails - automatically switches models</a:t>
            </a:r>
          </a:p>
          <a:p>
            <a:br/>
            <a:pPr>
              <a:defRPr sz="1600" b="1"/>
            </a:pPr>
            <a:r>
              <a:t>✨ Cross-Platform Memory</a:t>
            </a:r>
          </a:p>
          <a:p>
            <a:pPr lvl="1">
              <a:defRPr sz="1400"/>
            </a:pPr>
            <a:r>
              <a:t>Remembers user context across all devices</a:t>
            </a:r>
          </a:p>
          <a:p>
            <a:br/>
            <a:pPr>
              <a:defRPr sz="1600" b="1"/>
            </a:pPr>
            <a:r>
              <a:t>✨ Production-Ready Architecture</a:t>
            </a:r>
          </a:p>
          <a:p>
            <a:pPr lvl="1">
              <a:defRPr sz="1400"/>
            </a:pPr>
            <a:r>
              <a:t>Enterprise-grade error handling &amp;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Business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Enterprise Productivity Solution</a:t>
            </a:r>
          </a:p>
          <a:p>
            <a:br/>
            <a:pPr>
              <a:defRPr sz="1600" b="1"/>
            </a:pPr>
            <a:r>
              <a:t>Key Differentiators:</a:t>
            </a:r>
          </a:p>
          <a:p>
            <a:pPr lvl="1">
              <a:defRPr sz="1400"/>
            </a:pPr>
            <a:r>
              <a:t>• Full development environment per conversation</a:t>
            </a:r>
          </a:p>
          <a:p>
            <a:pPr lvl="1">
              <a:defRPr sz="1400"/>
            </a:pPr>
            <a:r>
              <a:t>• Real-time transparency of AI actions</a:t>
            </a:r>
          </a:p>
          <a:p>
            <a:pPr lvl="1">
              <a:defRPr sz="1400"/>
            </a:pPr>
            <a:r>
              <a:t>• Never-fail architecture with automatic recovery</a:t>
            </a:r>
          </a:p>
          <a:p>
            <a:pPr lvl="1">
              <a:defRPr sz="1400"/>
            </a:pPr>
            <a:r>
              <a:t>• Cross-platform synchronization</a:t>
            </a:r>
          </a:p>
          <a:p>
            <a:br/>
            <a:pPr>
              <a:defRPr sz="1600" b="1"/>
            </a:pPr>
            <a:r>
              <a:t>Use Case Coverage:</a:t>
            </a:r>
          </a:p>
          <a:p>
            <a:pPr lvl="1">
              <a:defRPr sz="1400"/>
            </a:pPr>
            <a:r>
              <a:t>• Software development &amp; debugging</a:t>
            </a:r>
          </a:p>
          <a:p>
            <a:pPr lvl="1">
              <a:defRPr sz="1400"/>
            </a:pPr>
            <a:r>
              <a:t>• Document &amp; presentation creation</a:t>
            </a:r>
          </a:p>
          <a:p>
            <a:pPr lvl="1">
              <a:defRPr sz="1400"/>
            </a:pPr>
            <a:r>
              <a:t>• Data analysis &amp; visualization</a:t>
            </a:r>
          </a:p>
          <a:p>
            <a:pPr lvl="1">
              <a:defRPr sz="1400"/>
            </a:pPr>
            <a:r>
              <a:t>• Email &amp; calendar automation</a:t>
            </a:r>
          </a:p>
          <a:p>
            <a:pPr lvl="1">
              <a:defRPr sz="1400"/>
            </a:pPr>
            <a:r>
              <a:t>• Research &amp; content generation</a:t>
            </a:r>
          </a:p>
          <a:p>
            <a:br/>
            <a:pPr>
              <a:defRPr sz="1600" b="1"/>
            </a:pPr>
            <a:r>
              <a:t>Target Market:</a:t>
            </a:r>
          </a:p>
          <a:p>
            <a:pPr lvl="1">
              <a:defRPr sz="1400"/>
            </a:pPr>
            <a:r>
              <a:t>• Enterprise teams needing AI automation</a:t>
            </a:r>
          </a:p>
          <a:p>
            <a:pPr lvl="1">
              <a:defRPr sz="1400"/>
            </a:pPr>
            <a:r>
              <a:t>• Professional developers &amp; data scientists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Technical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Future Enhancements</a:t>
            </a:r>
          </a:p>
          <a:p>
            <a:br/>
            <a:pPr>
              <a:defRPr sz="1600" b="1"/>
            </a:pPr>
            <a:r>
              <a:t>Short Term (Q1 2025):</a:t>
            </a:r>
          </a:p>
          <a:p>
            <a:pPr lvl="1">
              <a:defRPr sz="1400"/>
            </a:pPr>
            <a:r>
              <a:t>• Additional tool integrations</a:t>
            </a:r>
          </a:p>
          <a:p>
            <a:pPr lvl="1">
              <a:defRPr sz="1400"/>
            </a:pPr>
            <a:r>
              <a:t>• Enhanced memory capabilities</a:t>
            </a:r>
          </a:p>
          <a:p>
            <a:pPr lvl="1">
              <a:defRPr sz="1400"/>
            </a:pPr>
            <a:r>
              <a:t>• Performance optimizations</a:t>
            </a:r>
          </a:p>
          <a:p>
            <a:br/>
            <a:pPr>
              <a:defRPr sz="1600" b="1"/>
            </a:pPr>
            <a:r>
              <a:t>Medium Term (Q2-Q3 2025):</a:t>
            </a:r>
          </a:p>
          <a:p>
            <a:pPr lvl="1">
              <a:defRPr sz="1400"/>
            </a:pPr>
            <a:r>
              <a:t>• Multi-agent collaboration</a:t>
            </a:r>
          </a:p>
          <a:p>
            <a:pPr lvl="1">
              <a:defRPr sz="1400"/>
            </a:pPr>
            <a:r>
              <a:t>• Advanced workflow automation</a:t>
            </a:r>
          </a:p>
          <a:p>
            <a:pPr lvl="1">
              <a:defRPr sz="1400"/>
            </a:pPr>
            <a:r>
              <a:t>• Enterprise security features</a:t>
            </a:r>
          </a:p>
          <a:p>
            <a:br/>
            <a:pPr>
              <a:defRPr sz="1600" b="1"/>
            </a:pPr>
            <a:r>
              <a:t>Long Term (2026+):</a:t>
            </a:r>
          </a:p>
          <a:p>
            <a:pPr lvl="1">
              <a:defRPr sz="1400"/>
            </a:pPr>
            <a:r>
              <a:t>• Custom model fine-tuning</a:t>
            </a:r>
          </a:p>
          <a:p>
            <a:pPr lvl="1">
              <a:defRPr sz="1400"/>
            </a:pPr>
            <a:r>
              <a:t>• Autonomous task execution</a:t>
            </a:r>
          </a:p>
          <a:p>
            <a:pPr lvl="1">
              <a:defRPr sz="1400"/>
            </a:pPr>
            <a:r>
              <a:t>• Industry-specific solutions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Agent Evan: Production-Ready AI Assistant</a:t>
            </a:r>
          </a:p>
          <a:p>
            <a:br/>
            <a:pPr>
              <a:defRPr sz="1500"/>
            </a:pPr>
            <a:r>
              <a:t>✅ Multi-platform architecture (Python + Cloudflare + iOS)</a:t>
            </a:r>
          </a:p>
          <a:p>
            <a:br/>
            <a:pPr>
              <a:defRPr sz="1500"/>
            </a:pPr>
            <a:r>
              <a:t>✅ Revolutionary container-per-conversation model</a:t>
            </a:r>
          </a:p>
          <a:p>
            <a:br/>
            <a:pPr>
              <a:defRPr sz="1500"/>
            </a:pPr>
            <a:r>
              <a:t>✅ Sophisticated Claude integration with infinite retry</a:t>
            </a:r>
          </a:p>
          <a:p>
            <a:br/>
            <a:pPr>
              <a:defRPr sz="1500"/>
            </a:pPr>
            <a:r>
              <a:t>✅ Real-time WebSocket communication</a:t>
            </a:r>
          </a:p>
          <a:p>
            <a:br/>
            <a:pPr>
              <a:defRPr sz="1500"/>
            </a:pPr>
            <a:r>
              <a:t>✅ Cross-conversation memory system</a:t>
            </a:r>
          </a:p>
          <a:p>
            <a:br/>
            <a:pPr>
              <a:defRPr sz="1500"/>
            </a:pPr>
            <a:r>
              <a:t>✅ Production-grade security &amp; error handling</a:t>
            </a:r>
          </a:p>
          <a:p>
            <a:br/>
            <a:pPr>
              <a:defRPr sz="1500"/>
            </a:pPr>
            <a:r>
              <a:t>✅ Extensible plugin architecture</a:t>
            </a:r>
          </a:p>
          <a:p>
            <a:br/>
            <a:br/>
            <a:pPr>
              <a:defRPr sz="1800" b="1" i="1"/>
            </a:pPr>
            <a:r>
              <a:t>🚀 Ready for enterprise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